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  <a:ln w="1524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4432" y="182880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CDDFF"/>
                </a:solidFill>
              </a:rPr>
              <a:t>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4432" y="393192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CDDFF"/>
                </a:solidFill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37744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CDDFF"/>
                </a:solidFill>
              </a:rPr>
              <a:t>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88AA"/>
                </a:solidFill>
              </a:rPr>
              <a:t>AUTONOMES FAHREN  ·  TESTSZENARIO-ENTWICKLUNG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OpenSCENARIO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9BBDD"/>
                </a:solidFill>
              </a:rPr>
              <a:t>Visueller Szenario-Editor für autonome Fahrzeuge
auf Basis von CARLA &amp; OpenSCENARIO 1.0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6200"/>
            <a:ext cx="6400800" cy="36576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041648"/>
            <a:ext cx="2999232" cy="640080"/>
          </a:xfrm>
          <a:prstGeom prst="rect">
            <a:avLst/>
          </a:prstGeom>
          <a:solidFill>
            <a:srgbClr val="142850"/>
          </a:solidFill>
          <a:ln w="9525">
            <a:solidFill>
              <a:srgbClr val="2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0782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🗺  Interaktive Karten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31596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AACC"/>
                </a:solidFill>
              </a:rPr>
              <a:t>9 CARLA-Stadtkarten aus OpenDRIVE gerendert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8456" y="4041648"/>
            <a:ext cx="2999232" cy="640080"/>
          </a:xfrm>
          <a:prstGeom prst="rect">
            <a:avLst/>
          </a:prstGeom>
          <a:solidFill>
            <a:srgbClr val="142850"/>
          </a:solidFill>
          <a:ln w="9525">
            <a:solidFill>
              <a:srgbClr val="2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40782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🚗  Akteur-Platzierung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431596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AACC"/>
                </a:solidFill>
              </a:rPr>
              <a:t>Ego + 6 NPC-Typen mit Trajektorien &amp; Triggern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4880"/>
            <a:ext cx="2999232" cy="640080"/>
          </a:xfrm>
          <a:prstGeom prst="rect">
            <a:avLst/>
          </a:prstGeom>
          <a:solidFill>
            <a:srgbClr val="142850"/>
          </a:solidFill>
          <a:ln w="9525">
            <a:solidFill>
              <a:srgbClr val="2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7914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📤  OpenSCENARIO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02920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AACC"/>
                </a:solidFill>
              </a:rPr>
              <a:t>Direkt nutzbare .xosc für CARLA ScenarioRunner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8456" y="4754880"/>
            <a:ext cx="2999232" cy="640080"/>
          </a:xfrm>
          <a:prstGeom prst="rect">
            <a:avLst/>
          </a:prstGeom>
          <a:solidFill>
            <a:srgbClr val="142850"/>
          </a:solidFill>
          <a:ln w="9525">
            <a:solidFill>
              <a:srgbClr val="2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8184" y="47914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⚡  Ohne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8184" y="502920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AACC"/>
                </a:solidFill>
              </a:rPr>
              <a:t>Komplexe Szenarien visuell erstellen — kein Programmieren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69280"/>
            <a:ext cx="11183112" cy="6350"/>
          </a:xfrm>
          <a:prstGeom prst="rect">
            <a:avLst/>
          </a:prstGeom>
          <a:solidFill>
            <a:srgbClr val="22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799"/>
                </a:solidFill>
              </a:rPr>
              <a:t>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DFF"/>
                </a:solidFill>
              </a:rPr>
              <a:t>OpenSCENARIO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760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799"/>
                </a:solidFill>
              </a:rPr>
              <a:t>KARTE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9618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DFF"/>
                </a:solidFill>
              </a:rPr>
              <a:t>OpenDRIVE (.xodr)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760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799"/>
                </a:solidFill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59618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DFF"/>
                </a:solidFill>
              </a:rPr>
              <a:t>Python · FastAPI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760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799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9618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DDFF"/>
                </a:solidFill>
              </a:rPr>
              <a:t>Vanilla JS · SVG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Yuan Gao, M. Sc. (TUM)  |  11.05.2026  |  Supertestgenerator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20272" y="656539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677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  <a:ln w="1524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65BD"/>
                </a:solidFill>
              </a:rPr>
              <a:t>AUS</a:t>
            </a:r>
          </a:p>
          <a:p>
            <a:pPr algn="ctr"/>
            <a:r>
              <a:rPr sz="900" b="1">
                <a:solidFill>
                  <a:srgbClr val="0065BD"/>
                </a:solidFill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3F75"/>
                </a:solidFill>
              </a:rPr>
              <a:t>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743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OpenSCENARIO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9674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65BD"/>
                </a:solidFill>
              </a:rPr>
              <a:t>Szenario-Editor für CARLA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11183112" cy="274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83112" cy="6350"/>
          </a:xfrm>
          <a:prstGeom prst="rect">
            <a:avLst/>
          </a:prstGeom>
          <a:solidFill>
            <a:srgbClr val="D0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Yuan Gao, M. Sc. (TUM)  |  11.05.2026  |  Supertestgenerator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Erstellen Sie komplexe Testszenarien für autonome Fahrzeuge im OpenSCENARIO 1.0-Format — ohne eine einzige Zeile Code zu schreiben. Platzieren Sie Akteure, zeichnen Sie Trajektorien und exportieren Sie direkt für den CARLA ScenarioRunner.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188720"/>
            <a:ext cx="6885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10328" y="1280160"/>
            <a:ext cx="201168" cy="2011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128016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243584"/>
            <a:ext cx="6428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Karte auswählen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444752"/>
            <a:ext cx="6428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Wählen Sie im Dropdown oben eine der 9 CARLA-Stadtkarten (Town01–Town10HD).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029968"/>
            <a:ext cx="6885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0328" y="2121408"/>
            <a:ext cx="201168" cy="2011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2121408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084832"/>
            <a:ext cx="6428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Ego-Fahrzeug platzieren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6428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Klicken Sie auf Ego in der linken Werkzeugleiste, dann auf die Karte. Das Fahrzeug rastet automatisch am nächsten Startpunkt ein.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871216"/>
            <a:ext cx="6885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10328" y="2962656"/>
            <a:ext cx="201168" cy="2011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2962656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926080"/>
            <a:ext cx="6428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Route des Ego zeichnen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127248"/>
            <a:ext cx="6428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Wählen Sie das Ego → klicken Sie auf Pfad zeichnen → setzen Sie Wegpunkte → Fertig.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3712464"/>
            <a:ext cx="6885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10328" y="3803904"/>
            <a:ext cx="201168" cy="2011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0328" y="3803904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767328"/>
            <a:ext cx="6428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NPC-Akteure hinzufügen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968496"/>
            <a:ext cx="6428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Werkzeuge: Auto, LKW, Bus, Motorrad, Fußgänger, Radfahrer. NPCs erhalten Verhalten und Auslöserabstand.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4553712"/>
            <a:ext cx="6885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10328" y="4645152"/>
            <a:ext cx="201168" cy="2011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4645152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608576"/>
            <a:ext cx="6428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Umgebung konfigurieren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809744"/>
            <a:ext cx="6428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Wetterleiste unten: Tageszeit, Nebel, Regen, Wolken, Sonne, nasse Straße, Schnee, Staub (je 0–1).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5394960"/>
            <a:ext cx="6885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10328" y="5486400"/>
            <a:ext cx="201168" cy="2011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0328" y="548640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449824"/>
            <a:ext cx="6428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Vorschau &amp; 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650992"/>
            <a:ext cx="6428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Mit ▶ Abspielen animieren. Export als .xosc (OpenSCENARIO), Route-.xml (Autoware) oder .json.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  <a:ln w="1524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65BD"/>
                </a:solidFill>
              </a:rPr>
              <a:t>AUS</a:t>
            </a:r>
          </a:p>
          <a:p>
            <a:pPr algn="ctr"/>
            <a:r>
              <a:rPr sz="900" b="1">
                <a:solidFill>
                  <a:srgbClr val="0065BD"/>
                </a:solidFill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3F75"/>
                </a:solidFill>
              </a:rPr>
              <a:t>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743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Was ist OpenSCENARIO?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9674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65BD"/>
                </a:solidFill>
              </a:rPr>
              <a:t>ASAM-Standard für Fahrsimulationsszenarien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11183112" cy="274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83112" cy="6350"/>
          </a:xfrm>
          <a:prstGeom prst="rect">
            <a:avLst/>
          </a:prstGeom>
          <a:solidFill>
            <a:srgbClr val="D0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Yuan Gao, M. Sc. (TUM)  |  11.05.2026  |  Supertestgenerator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45720" cy="82296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188720"/>
            <a:ext cx="5454396" cy="8229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261872"/>
            <a:ext cx="52715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OpenSCENARIO ist ein offener, XML-basierter Standard der ASAM e.V. zur Beschreibung dynamischer Inhalte in Fahrsimulationsszenarien — hersteller-unabhängig und reproduzierbar.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64008" cy="64008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103120"/>
            <a:ext cx="52715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Beschreibt Akteure, Trajektorien, Trigger, Wetter und Umgebung in einer .xosc-Datei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88336"/>
            <a:ext cx="64008" cy="64008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596896"/>
            <a:ext cx="52715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Kompatibel mit CARLA, IPG CarMaker, dSPACE, AVL und weiteren Simulatoren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82112"/>
            <a:ext cx="64008" cy="64008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090672"/>
            <a:ext cx="52715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Szenarien sind exakt reproduzierbar, versionierbar und CI/CD-fähig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64008" cy="64008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584448"/>
            <a:ext cx="52715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Kartenbasis: OpenDRIVE (.xodr) — ebenfalls ein ASAM-Standard für Straßennetze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1188720"/>
            <a:ext cx="54086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F75"/>
                </a:solidFill>
              </a:rPr>
              <a:t>Version 1.0 (2020)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1444752"/>
            <a:ext cx="5408676" cy="2743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508" y="1490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0436" y="1490472"/>
            <a:ext cx="35798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1719072"/>
            <a:ext cx="5408676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18013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F75"/>
                </a:solidFill>
              </a:rPr>
              <a:t>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0436" y="1801368"/>
            <a:ext cx="35798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Ego &amp; NPC-Definitionen (Vehicle, Pedestrian …)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7356" y="2121408"/>
            <a:ext cx="54086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0508" y="2203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F75"/>
                </a:solidFill>
              </a:rPr>
              <a:t>TeleportAction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0436" y="2203704"/>
            <a:ext cx="35798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Startposition der Akteure (x, y, z, Yaw)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7356" y="2523744"/>
            <a:ext cx="5408676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508" y="2606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F75"/>
                </a:solidFill>
              </a:rPr>
              <a:t>FollowTrajectory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0436" y="2606040"/>
            <a:ext cx="35798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Bewegungspfade mit Wegpunkten &amp; Geschwindigkeit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7356" y="2926080"/>
            <a:ext cx="54086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0508" y="3008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F75"/>
                </a:solidFill>
              </a:rPr>
              <a:t>DistanceCondition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0436" y="3008376"/>
            <a:ext cx="35798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Aktivierungsauslöser: NPC startet bei Ego-Nähe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7356" y="3328416"/>
            <a:ext cx="5408676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508" y="3410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F75"/>
                </a:solidFill>
              </a:rPr>
              <a:t>EnvironmentAction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0436" y="3410712"/>
            <a:ext cx="35798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Wetter &amp; Tageszeit (Nebel, Regen, Sonne …)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7356" y="3730752"/>
            <a:ext cx="54086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0508" y="38130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F75"/>
                </a:solidFill>
              </a:rPr>
              <a:t>RoadNetwork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0436" y="3813048"/>
            <a:ext cx="35798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Referenz auf OpenDRIVE (.xodr) Kartendatei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  <a:ln w="1524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65BD"/>
                </a:solidFill>
              </a:rPr>
              <a:t>AUS</a:t>
            </a:r>
          </a:p>
          <a:p>
            <a:pPr algn="ctr"/>
            <a:r>
              <a:rPr sz="900" b="1">
                <a:solidFill>
                  <a:srgbClr val="0065BD"/>
                </a:solidFill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3F75"/>
                </a:solidFill>
              </a:rPr>
              <a:t>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743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Systemarchitektur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9674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65BD"/>
                </a:solidFill>
              </a:rPr>
              <a:t>Backend · Frontend · Datenfluss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11183112" cy="274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83112" cy="6350"/>
          </a:xfrm>
          <a:prstGeom prst="rect">
            <a:avLst/>
          </a:prstGeom>
          <a:solidFill>
            <a:srgbClr val="D0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Yuan Gao, M. Sc. (TUM)  |  11.05.2026  |  Supertestgenerator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261872"/>
            <a:ext cx="2377440" cy="9601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31673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F75"/>
                </a:solidFill>
              </a:rPr>
              <a:t>maps/*.xodr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09344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OpenDRIVE
Kartendaten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15819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5B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1261872"/>
            <a:ext cx="2377440" cy="9601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31673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F75"/>
                </a:solidFill>
              </a:rPr>
              <a:t>FastAPI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609344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map_renderer.py
scenario_io.py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9864" y="15819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5BD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261872"/>
            <a:ext cx="2377440" cy="9601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31673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F75"/>
                </a:solidFill>
              </a:rPr>
              <a:t>Browser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609344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Vanilla JS
SVG Rendering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15819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5BD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1704" y="1261872"/>
            <a:ext cx="2377440" cy="9601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31673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F75"/>
                </a:solidFill>
              </a:rPr>
              <a:t>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609344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.xosc / .xml
/ 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478024"/>
            <a:ext cx="54543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F75"/>
                </a:solidFill>
              </a:rPr>
              <a:t>Backend (Python 3.10+)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734056"/>
            <a:ext cx="5454396" cy="2560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7706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Modul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2770632"/>
            <a:ext cx="38084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Aufgabe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990088"/>
            <a:ext cx="5454396" cy="365760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3063240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main.py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063240"/>
            <a:ext cx="37353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FastAPI REST-Server, Karten-Cache beim Start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74136"/>
            <a:ext cx="54543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447288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map_renderer.py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447288"/>
            <a:ext cx="37353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OpenDRIVE-Parser → Geometrie-JSON für SVG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758184"/>
            <a:ext cx="5454396" cy="365760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83133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scenario_io.py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3831336"/>
            <a:ext cx="37353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Validierung + .xosc / .xml Generierung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1636" y="2478024"/>
            <a:ext cx="54543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F75"/>
                </a:solidFill>
              </a:rPr>
              <a:t>Frontend (Vanilla JS — kein Build-Schritt)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1636" y="2734056"/>
            <a:ext cx="5454396" cy="2560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4788" y="2770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Datei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8956" y="2770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Aufgabe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1636" y="2990088"/>
            <a:ext cx="5454396" cy="365760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4788" y="306324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mapView.js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76388" y="3063240"/>
            <a:ext cx="39456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SVG-Rendering, Pan/Zoom, Layer-Steuerung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1636" y="3374136"/>
            <a:ext cx="54543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4788" y="344728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objects.js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388" y="3447288"/>
            <a:ext cx="39456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Akteur-Platzierung, Drag, Trajektorien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1636" y="3758184"/>
            <a:ext cx="5454396" cy="365760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4788" y="38313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simulate.js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76388" y="3831336"/>
            <a:ext cx="39456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Animationsvorschau aller Akteure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1636" y="4142232"/>
            <a:ext cx="54543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4788" y="421538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F75"/>
                </a:solidFill>
              </a:rPr>
              <a:t>scenarioIO.js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388" y="4215384"/>
            <a:ext cx="39456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Speichern / Laden / Exportieren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  <a:ln w="1524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65BD"/>
                </a:solidFill>
              </a:rPr>
              <a:t>AUS</a:t>
            </a:r>
          </a:p>
          <a:p>
            <a:pPr algn="ctr"/>
            <a:r>
              <a:rPr sz="900" b="1">
                <a:solidFill>
                  <a:srgbClr val="0065BD"/>
                </a:solidFill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3F75"/>
                </a:solidFill>
              </a:rPr>
              <a:t>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743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Akteure &amp; Trajektorien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9674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65BD"/>
                </a:solidFill>
              </a:rPr>
              <a:t>Platzierung, Pfade und NPC-Verhalten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11183112" cy="274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83112" cy="6350"/>
          </a:xfrm>
          <a:prstGeom prst="rect">
            <a:avLst/>
          </a:prstGeom>
          <a:solidFill>
            <a:srgbClr val="D0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Yuan Gao, M. Sc. (TUM)  |  11.05.2026  |  Supertestgenerator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54543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F75"/>
                </a:solidFill>
              </a:rPr>
              <a:t>Akteur-Typen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44752"/>
            <a:ext cx="5454396" cy="2560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Typ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Rolle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Farbe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0784"/>
            <a:ext cx="5454396" cy="347472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1764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176479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Zu testendes AV (Ego-Fahrzeug)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7647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5BD"/>
                </a:solidFill>
              </a:rPr>
              <a:t>■ Blau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066544"/>
            <a:ext cx="54543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13055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213055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NPC-Personenkraftwagen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1305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7A00"/>
                </a:solidFill>
              </a:rPr>
              <a:t>■ Orange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32304"/>
            <a:ext cx="5454396" cy="347472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49631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LKW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24963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NPC-Lastkraftwagen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49631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5522"/>
                </a:solidFill>
              </a:rPr>
              <a:t>■ Rot-Braun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798064"/>
            <a:ext cx="54543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86207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286207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NPC-Bus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28620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</a:rPr>
              <a:t>■ Gelb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163824"/>
            <a:ext cx="5454396" cy="347472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22783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Motorrad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322783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NPC-Kraftrad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322783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4433"/>
                </a:solidFill>
              </a:rPr>
              <a:t>■ Lachs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529584"/>
            <a:ext cx="54543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5935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Fußgänger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359359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Vulnerable Road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35935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933AA"/>
                </a:solidFill>
              </a:rPr>
              <a:t>■ Lila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895344"/>
            <a:ext cx="5454396" cy="347472"/>
          </a:xfrm>
          <a:prstGeom prst="rect">
            <a:avLst/>
          </a:prstGeom>
          <a:solidFill>
            <a:srgbClr val="E8F0FB"/>
          </a:solidFill>
          <a:ln w="6350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395935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</a:rPr>
              <a:t>Radfahrer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395935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Vulnerable Road 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39593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8866"/>
                </a:solidFill>
              </a:rPr>
              <a:t>■ Grün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1636" y="1188720"/>
            <a:ext cx="54543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F75"/>
                </a:solidFill>
              </a:rPr>
              <a:t>NPC-Konfiguration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1636" y="1463040"/>
            <a:ext cx="5454396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41364" y="1572768"/>
            <a:ext cx="219456" cy="219456"/>
          </a:xfrm>
          <a:prstGeom prst="ellipse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1364" y="157276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2260" y="1527048"/>
            <a:ext cx="49514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Trajektorienpfad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2260" y="1764792"/>
            <a:ext cx="49514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Klick-Wegpunkte mit individueller Geschwindigkeit (m/s) — erzeugt FollowTrajectoryAction in der .xosc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1636" y="2377440"/>
            <a:ext cx="5454396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41364" y="2487168"/>
            <a:ext cx="219456" cy="219456"/>
          </a:xfrm>
          <a:prstGeom prst="ellipse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1364" y="248716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2260" y="2441448"/>
            <a:ext cx="49514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Aktivierungsauslöser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2260" y="2679192"/>
            <a:ext cx="49514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NPC startet wenn Ego im einstellbaren Abstand (5–1000 m) — erzeugt DistanceCondition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1636" y="3291840"/>
            <a:ext cx="5454396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41364" y="3401568"/>
            <a:ext cx="219456" cy="219456"/>
          </a:xfrm>
          <a:prstGeom prst="ellipse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1364" y="340156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2260" y="3355848"/>
            <a:ext cx="49514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Verhaltensoptionen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2260" y="3593592"/>
            <a:ext cx="49514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Konstante Geschwindigkeit · Beschleunigen · Abbremsen · Anhalten · Spurwechsel links/rechts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1636" y="4206240"/>
            <a:ext cx="5454396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341364" y="4315968"/>
            <a:ext cx="219456" cy="219456"/>
          </a:xfrm>
          <a:prstGeom prst="ellipse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41364" y="431596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2260" y="4270248"/>
            <a:ext cx="49514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Rückgängig (Strg+Z)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2260" y="4507992"/>
            <a:ext cx="49514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Letzte 20 Löschaktionen wiederherstellbar — kein versehentlicher Datenverlust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  <a:ln w="1524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4432" y="182880"/>
            <a:ext cx="6583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65BD"/>
                </a:solidFill>
              </a:rPr>
              <a:t>AUS</a:t>
            </a:r>
          </a:p>
          <a:p>
            <a:pPr algn="ctr"/>
            <a:r>
              <a:rPr sz="900" b="1">
                <a:solidFill>
                  <a:srgbClr val="0065BD"/>
                </a:solidFill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3F75"/>
                </a:solidFill>
              </a:rPr>
              <a:t>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743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Export &amp; CARLA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9674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65BD"/>
                </a:solidFill>
              </a:rPr>
              <a:t>Von der Visualisierung zur lauffähigen Simulation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11183112" cy="27432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83112" cy="6350"/>
          </a:xfrm>
          <a:prstGeom prst="rect">
            <a:avLst/>
          </a:prstGeom>
          <a:solidFill>
            <a:srgbClr val="D0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Yuan Gao, M. Sc. (TUM)  |  11.05.2026  |  Supertestgenerator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64373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5454396" cy="1353312"/>
          </a:xfrm>
          <a:prstGeom prst="rect">
            <a:avLst/>
          </a:prstGeom>
          <a:solidFill>
            <a:srgbClr val="E8F0FB"/>
          </a:solidFill>
          <a:ln w="9525">
            <a:solidFill>
              <a:srgbClr val="A8C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280160"/>
            <a:ext cx="5253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A0"/>
                </a:solidFill>
              </a:rPr>
              <a:t>📄  .xosc — OpenSCENARIO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1572768"/>
            <a:ext cx="52532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Vollständige Szenario-Datei für den CARLA ScenarioRunner. Enthält Entities, TeleportAction, FollowTrajectoryAction, DistanceCondition, EnvironmentAction.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51760"/>
            <a:ext cx="5454396" cy="1353312"/>
          </a:xfrm>
          <a:prstGeom prst="rect">
            <a:avLst/>
          </a:prstGeom>
          <a:solidFill>
            <a:srgbClr val="E8F5EE"/>
          </a:solidFill>
          <a:ln w="9525">
            <a:solidFill>
              <a:srgbClr val="A8D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743200"/>
            <a:ext cx="5253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A3A"/>
                </a:solidFill>
              </a:rPr>
              <a:t>🗺️  .xml —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035808"/>
            <a:ext cx="52532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Wegpunkt-Route des Ego mit x, y, z, Yaw — kompatibel mit Autoware und CARLA-Routenplanern.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5454396" cy="1353312"/>
          </a:xfrm>
          <a:prstGeom prst="rect">
            <a:avLst/>
          </a:prstGeom>
          <a:solidFill>
            <a:srgbClr val="FEF3E2"/>
          </a:solidFill>
          <a:ln w="9525">
            <a:solidFill>
              <a:srgbClr val="F5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4206240"/>
            <a:ext cx="52532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4A00"/>
                </a:solidFill>
              </a:rPr>
              <a:t>💾  .json — Editor-Zustand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498848"/>
            <a:ext cx="52532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Vollständiger Snapshot zum Speichern und Weiterladen. Enthält alle Akteure, Trajektorien, Wetter und Kartenauswahl.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188720"/>
            <a:ext cx="45720" cy="68580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1188720"/>
            <a:ext cx="5408676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8796" y="1261872"/>
            <a:ext cx="52257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</a:rPr>
              <a:t>Koordinatensystem: OpenDRIVE (x, y) → CARLA Left-Hand-System: carla_y = −xodr_y. Die Y-Achsenspiegelung erfolgt automatisch im Backend.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1636" y="1975104"/>
            <a:ext cx="54543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F75"/>
                </a:solidFill>
              </a:rPr>
              <a:t>CARLA ScenarioRunner starten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231135"/>
            <a:ext cx="5454396" cy="1417320"/>
          </a:xfrm>
          <a:prstGeom prst="rect">
            <a:avLst/>
          </a:prstGeom>
          <a:solidFill>
            <a:srgbClr val="1E2336"/>
          </a:solidFill>
          <a:ln w="6350">
            <a:solidFill>
              <a:srgbClr val="2E3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9652" y="2322575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A8A"/>
                </a:solidFill>
              </a:rPr>
              <a:t># CARLA Simulator starten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9652" y="2496311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DE880"/>
                </a:solidFill>
              </a:rPr>
              <a:t>./CarlaUE4.sh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9652" y="2670047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DE880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2843783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A8A"/>
                </a:solidFill>
              </a:rPr>
              <a:t># Exportiertes Szenario ausführen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017519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E8"/>
                </a:solidFill>
              </a:rPr>
              <a:t>python scenario_runner.py \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9652" y="3191255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E8"/>
                </a:solidFill>
              </a:rPr>
              <a:t>  --openscenario Town01_scenario.xosc \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9652" y="3364991"/>
            <a:ext cx="52532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E8"/>
                </a:solidFill>
              </a:rPr>
              <a:t>  --reloadWorld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1636" y="3776471"/>
            <a:ext cx="45720" cy="2514601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7356" y="3776471"/>
            <a:ext cx="5408676" cy="2514601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8796" y="3849623"/>
            <a:ext cx="5225796" cy="2404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</a:rPr>
              <a:t>Validierung vor Export: Der Editor prüft ob ein Ego platziert wurde und warnt bei NPCs ohne Trajektorie — bevor die .xosc Datei generiert wird.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